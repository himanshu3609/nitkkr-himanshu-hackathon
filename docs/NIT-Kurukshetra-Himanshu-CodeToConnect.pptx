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41080" y="-640080"/>
            <a:ext cx="4389120" cy="4389120"/>
          </a:xfrm>
          <a:prstGeom prst="ellipse">
            <a:avLst/>
          </a:prstGeom>
          <a:solidFill>
            <a:srgbClr val="182740"/>
          </a:solidFill>
          <a:ln>
            <a:solidFill>
              <a:srgbClr val="18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5720"/>
            <a:ext cx="3017520" cy="3017520"/>
          </a:xfrm>
          <a:prstGeom prst="ellipse">
            <a:avLst/>
          </a:prstGeom>
          <a:solidFill>
            <a:srgbClr val="09101E"/>
          </a:solidFill>
          <a:ln>
            <a:solidFill>
              <a:srgbClr val="09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548640"/>
            <a:ext cx="2011680" cy="2011680"/>
          </a:xfrm>
          <a:prstGeom prst="ellipse">
            <a:avLst/>
          </a:prstGeom>
          <a:solidFill>
            <a:srgbClr val="121D31"/>
          </a:solidFill>
          <a:ln>
            <a:solidFill>
              <a:srgbClr val="121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1051560"/>
            <a:ext cx="1005840" cy="1005840"/>
          </a:xfrm>
          <a:prstGeom prst="ellipse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229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S&amp;P GLOBAL × CRISIL  |  CAMPUS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832104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300" b="1" i="0">
                <a:solidFill>
                  <a:srgbClr val="F2F6FD"/>
                </a:solidFill>
                <a:latin typeface="Aptos"/>
              </a:defRPr>
            </a:pPr>
            <a:r>
              <a:t>AI/NLP Risk Engine</a:t>
            </a:r>
          </a:p>
          <a:p>
            <a:pPr algn="l">
              <a:spcAft>
                <a:spcPts val="500"/>
              </a:spcAft>
              <a:defRPr sz="3300" b="1" i="0">
                <a:solidFill>
                  <a:srgbClr val="F2F6FD"/>
                </a:solidFill>
                <a:latin typeface="Aptos"/>
              </a:defRPr>
            </a:pPr>
            <a:r>
              <a:t>&amp; Tactical Index Rebalancer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7406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A9B7CC"/>
                </a:solidFill>
                <a:latin typeface="Aptos"/>
              </a:defRPr>
            </a:pPr>
            <a:r>
              <a:t>A modular pipeline that transforms unstructured market information into structured risk signals and tactical portfolio analytics.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97680"/>
            <a:ext cx="731520" cy="457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2F6FD"/>
                </a:solidFill>
                <a:latin typeface="Aptos"/>
              </a:defRPr>
            </a:pPr>
            <a:r>
              <a:rPr dirty="0"/>
              <a:t>Himanshu  •  National Institute of Technology, Kurukshetra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822960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Python  |  FinBERT  |  DistilBERT-MNLI  |  </a:t>
            </a:r>
            <a:r>
              <a:rPr sz="1500" dirty="0" err="1"/>
              <a:t>Streamlit</a:t>
            </a:r>
            <a:r>
              <a:rPr sz="1500" dirty="0"/>
              <a:t> + </a:t>
            </a:r>
            <a:r>
              <a:rPr sz="1500" dirty="0" err="1"/>
              <a:t>Plotly</a:t>
            </a:r>
            <a:endParaRPr sz="15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01  / 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01 — PROBLEM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The latency gap between news and risk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The project converts fast-moving, unstructured information into consistent, reviewable risk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237744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0292" cy="2377440"/>
          </a:xfrm>
          <a:prstGeom prst="rect">
            <a:avLst/>
          </a:prstGeom>
          <a:solidFill>
            <a:srgbClr val="FF697D"/>
          </a:solidFill>
          <a:ln>
            <a:solidFill>
              <a:srgbClr val="FF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86584"/>
            <a:ext cx="3200400" cy="15132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News, earnings and social posts arrive in different formats.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Historical structured metrics can lag sudden events.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Analysts need consistent event, sentiment and severity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237744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0292" cy="237744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0253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86584"/>
            <a:ext cx="3200400" cy="15132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Ingest live RSS, public post links, datasets and manual text.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Run financial sentiment and event classification.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Produce sentiment, event class and impact score (1–10).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237744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50292" cy="237744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00253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86584"/>
            <a:ext cx="3200400" cy="12977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Map signals to affected assets.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Adjust mock portfolio weights based on sentiment and impact.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Normalize the portfolio to a 100% total.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709160"/>
            <a:ext cx="25826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OUTPUT CONTRACT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074920"/>
            <a:ext cx="214884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5109042"/>
            <a:ext cx="20574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sz="1400" dirty="0"/>
              <a:t>Sentiment: −1 to +1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5074920"/>
            <a:ext cx="214884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5109043"/>
            <a:ext cx="20574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588FFF"/>
                </a:solidFill>
                <a:latin typeface="Aptos"/>
              </a:defRPr>
            </a:pPr>
            <a:r>
              <a:rPr sz="1400" dirty="0"/>
              <a:t>Event: 14 categories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76672" y="5074920"/>
            <a:ext cx="201168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0680" y="5094767"/>
            <a:ext cx="19202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B454"/>
                </a:solidFill>
                <a:latin typeface="Aptos"/>
              </a:defRPr>
            </a:pPr>
            <a:r>
              <a:rPr sz="1400" dirty="0"/>
              <a:t>Impact: 1–10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047488"/>
            <a:ext cx="365760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Decision-support prototype; allocation outputs require validation and human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500" dirty="0"/>
              <a:t>02 —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One pipeline, four processing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Each stage has a defined input, transformation and output to make the system easier to inspect and debug.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514600" cy="20574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50292" cy="205740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14322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rPr dirty="0"/>
              <a:t>1 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78024"/>
            <a:ext cx="2194560" cy="1577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Inputs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RSS feeds • X/Twitter URLs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Kaggle datasets • manual text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Output: raw text + source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57400"/>
            <a:ext cx="2514600" cy="20574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2057400"/>
            <a:ext cx="50292" cy="205740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126996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rPr dirty="0"/>
              <a:t>2  PREPROCESS +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457889"/>
            <a:ext cx="2194560" cy="1577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Normalize text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FinBERT → sentiment score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DistilBERT-MNLI → event class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Output: structured risk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057400"/>
            <a:ext cx="2514600" cy="20574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2057400"/>
            <a:ext cx="50292" cy="205740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185416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3  SCORE +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569464"/>
            <a:ext cx="2194560" cy="13619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Calculate impact (1–10)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Extract company / ticker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Apply asset discovery rules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Output: event-linked risk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2057400"/>
            <a:ext cx="2514600" cy="20574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2057400"/>
            <a:ext cx="50292" cy="2057400"/>
          </a:xfrm>
          <a:prstGeom prst="rect">
            <a:avLst/>
          </a:prstGeom>
          <a:solidFill>
            <a:srgbClr val="BB8FFF"/>
          </a:solidFill>
          <a:ln>
            <a:solidFill>
              <a:srgbClr val="BB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3144" y="2185416"/>
            <a:ext cx="2194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4  REBALANCE +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537445"/>
            <a:ext cx="2194560" cy="1577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Adjust portfolio weights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Normalize sum to 100%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 err="1"/>
              <a:t>Streamlit</a:t>
            </a:r>
            <a:r>
              <a:rPr sz="1400" dirty="0"/>
              <a:t> + </a:t>
            </a:r>
            <a:r>
              <a:rPr sz="1400" dirty="0" err="1"/>
              <a:t>Plotly</a:t>
            </a:r>
            <a:r>
              <a:rPr sz="1400" dirty="0"/>
              <a:t> dashboard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Output: audit table +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28346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34DD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28346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34DD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3376" y="28346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34DD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709160"/>
            <a:ext cx="10652760" cy="71323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919472"/>
            <a:ext cx="10332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2F6FD"/>
                </a:solidFill>
                <a:latin typeface="Aptos"/>
              </a:defRPr>
            </a:pPr>
            <a:r>
              <a:rPr dirty="0"/>
              <a:t>Raw text  →  risk record  →  asset-level signal  →  normalized weights  → 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03 — HOW THE PIPELINE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Implementation sequence and module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The repository separates ingestion, inference and UI logic so each stage can be tested independently.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0292" cy="196596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A  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40864"/>
            <a:ext cx="3200400" cy="142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`risk_data_ingestion.py`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Poll RSS sources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Parse public post URLs / IDs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Load benchmark data and manual text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Attach timestamp + source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50292" cy="196596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5681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B  RISK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40864"/>
            <a:ext cx="3200400" cy="142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`risk_engine_pipeline.py`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Clean and normalize input text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Run FinBERT sentiment pipeline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Run zero-shot event classification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Compute severity-adjusted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52044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50292" cy="1965960"/>
          </a:xfrm>
          <a:prstGeom prst="rect">
            <a:avLst/>
          </a:prstGeom>
          <a:solidFill>
            <a:srgbClr val="BB8FFF"/>
          </a:solidFill>
          <a:ln>
            <a:solidFill>
              <a:srgbClr val="BB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5681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C  APPLICATION +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40864"/>
            <a:ext cx="3200400" cy="142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`module_a_app.py`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Trigger ingestion / inference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Show feed audit table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Display attribution and portfolio views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Maintain interactive dashboard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t>BUILD ORDER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709160"/>
            <a:ext cx="347472" cy="347472"/>
          </a:xfrm>
          <a:prstGeom prst="ellipse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773168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54880"/>
            <a:ext cx="29260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2F6FD"/>
                </a:solidFill>
                <a:latin typeface="Aptos"/>
              </a:defRPr>
            </a:pPr>
            <a:r>
              <a:rPr sz="1400" dirty="0"/>
              <a:t>Define input schema</a:t>
            </a:r>
          </a:p>
        </p:txBody>
      </p:sp>
      <p:sp>
        <p:nvSpPr>
          <p:cNvPr id="23" name="Oval 22"/>
          <p:cNvSpPr/>
          <p:nvPr/>
        </p:nvSpPr>
        <p:spPr>
          <a:xfrm>
            <a:off x="4526279" y="4709160"/>
            <a:ext cx="347472" cy="347472"/>
          </a:xfrm>
          <a:prstGeom prst="ellipse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79" y="4773168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4754880"/>
            <a:ext cx="29260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2F6FD"/>
                </a:solidFill>
                <a:latin typeface="Aptos"/>
              </a:defRPr>
            </a:pPr>
            <a:r>
              <a:rPr sz="1400" dirty="0"/>
              <a:t>Implement each source adapter</a:t>
            </a:r>
          </a:p>
        </p:txBody>
      </p:sp>
      <p:sp>
        <p:nvSpPr>
          <p:cNvPr id="26" name="Oval 25"/>
          <p:cNvSpPr/>
          <p:nvPr/>
        </p:nvSpPr>
        <p:spPr>
          <a:xfrm>
            <a:off x="8275319" y="4709160"/>
            <a:ext cx="347472" cy="347472"/>
          </a:xfrm>
          <a:prstGeom prst="ellipse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4773168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4754880"/>
            <a:ext cx="29260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2F6FD"/>
                </a:solidFill>
                <a:latin typeface="Aptos"/>
              </a:defRPr>
            </a:pPr>
            <a:r>
              <a:rPr sz="1400" dirty="0"/>
              <a:t>Wrap model inference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5367528"/>
            <a:ext cx="347472" cy="347472"/>
          </a:xfrm>
          <a:prstGeom prst="ellipse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431536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413248"/>
            <a:ext cx="29260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2F6FD"/>
                </a:solidFill>
                <a:latin typeface="Aptos"/>
              </a:defRPr>
            </a:pPr>
            <a:r>
              <a:rPr sz="1400" dirty="0"/>
              <a:t>Score + map tickers</a:t>
            </a:r>
          </a:p>
        </p:txBody>
      </p:sp>
      <p:sp>
        <p:nvSpPr>
          <p:cNvPr id="32" name="Oval 31"/>
          <p:cNvSpPr/>
          <p:nvPr/>
        </p:nvSpPr>
        <p:spPr>
          <a:xfrm>
            <a:off x="4526279" y="5367528"/>
            <a:ext cx="347472" cy="347472"/>
          </a:xfrm>
          <a:prstGeom prst="ellipse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79" y="5431536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79" y="5413248"/>
            <a:ext cx="29260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2F6FD"/>
                </a:solidFill>
                <a:latin typeface="Aptos"/>
              </a:defRPr>
            </a:pPr>
            <a:r>
              <a:rPr sz="1400" dirty="0"/>
              <a:t>Rebalance</a:t>
            </a:r>
            <a:r>
              <a:rPr dirty="0"/>
              <a:t> + normalize</a:t>
            </a:r>
          </a:p>
        </p:txBody>
      </p:sp>
      <p:sp>
        <p:nvSpPr>
          <p:cNvPr id="35" name="Oval 34"/>
          <p:cNvSpPr/>
          <p:nvPr/>
        </p:nvSpPr>
        <p:spPr>
          <a:xfrm>
            <a:off x="8275319" y="5367528"/>
            <a:ext cx="347472" cy="347472"/>
          </a:xfrm>
          <a:prstGeom prst="ellipse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19" y="5431536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9" y="5413248"/>
            <a:ext cx="29260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2F6FD"/>
                </a:solidFill>
                <a:latin typeface="Aptos"/>
              </a:defRPr>
            </a:pPr>
            <a:r>
              <a:rPr sz="1400" dirty="0"/>
              <a:t>Connect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04 — NLP RISK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Two model pipelines create a structured risk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The sentiment and event classifiers answer different questions and are combined only after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29000" cy="224028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0292" cy="224028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INPUT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4"/>
            <a:ext cx="3108960" cy="1669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Input: headline / post text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• Strip markup and irrelevant noise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• Normalize whitespace and encoding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• Preserve source and timestamp for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24028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50292" cy="224028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02536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PIPELINE A — SENTIMENT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86584"/>
            <a:ext cx="3108960" cy="1577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FinBERT (financial domain)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Predict bullish / neutral / bearish probabilities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Convert probabilities into a continuous score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Range: −1.00 to +1.00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429000" cy="224028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50292" cy="2240280"/>
          </a:xfrm>
          <a:prstGeom prst="rect">
            <a:avLst/>
          </a:prstGeom>
          <a:solidFill>
            <a:srgbClr val="BB8FFF"/>
          </a:solidFill>
          <a:ln>
            <a:solidFill>
              <a:srgbClr val="BB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2002536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PIPELINE B — EVENT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386584"/>
            <a:ext cx="3108960" cy="13619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DistilBERT-MNLI (zero-shot NLI)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Compare text against 14 candidate labels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Select the best-fitting event category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400" dirty="0"/>
              <a:t>• Retain classification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560318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sz="1500" dirty="0"/>
              <a:t>STRUCTURED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56048"/>
            <a:ext cx="256032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4968201"/>
            <a:ext cx="2468879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sz="1500" dirty="0"/>
              <a:t>sentiment_score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956048"/>
            <a:ext cx="256032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79" y="4980355"/>
            <a:ext cx="2468879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BB8FFF"/>
                </a:solidFill>
                <a:latin typeface="Aptos"/>
              </a:defRPr>
            </a:pPr>
            <a:r>
              <a:rPr sz="1500" dirty="0"/>
              <a:t>event_category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4956048"/>
            <a:ext cx="256032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4980354"/>
            <a:ext cx="2468879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588FFF"/>
                </a:solidFill>
                <a:latin typeface="Aptos"/>
              </a:defRPr>
            </a:pPr>
            <a:r>
              <a:rPr sz="1500" dirty="0"/>
              <a:t>classification</a:t>
            </a:r>
            <a:r>
              <a:rPr dirty="0"/>
              <a:t>_</a:t>
            </a:r>
            <a:r>
              <a:rPr sz="1500" dirty="0"/>
              <a:t>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3999" y="4956048"/>
            <a:ext cx="2560320" cy="347472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19" y="4968201"/>
            <a:ext cx="2468879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B454"/>
                </a:solidFill>
                <a:latin typeface="Aptos"/>
              </a:defRPr>
            </a:pPr>
            <a:r>
              <a:rPr sz="1500" dirty="0"/>
              <a:t>impact_score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106984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Impact formula from the project specification: (|sentiment| × 6) + (confidence × 4), with a +2.5 boost for designated high-severity events; scale and bound to 1–10.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05 — TACTICAL INDEX REBALANCER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Translate event-level risk into asset-level weight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The rebalancer uses entity/ticker mapping, a transparent adjustment rule and a final normalization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606040" cy="22860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0292" cy="228600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1  ENTITY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4"/>
            <a:ext cx="228600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Extract $TICKER tags or map corporate keywords to known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606040" cy="22860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874519"/>
            <a:ext cx="50292" cy="228600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00253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2  ASSET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86584"/>
            <a:ext cx="228600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Add newly detected assets (e.g., NVDA, WMT, SPY) with a baseline allocation.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2606040" cy="22860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0292" cy="228600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002536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3  WEIGHT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86584"/>
            <a:ext cx="228600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W_new = max(2%, </a:t>
            </a:r>
            <a:r>
              <a:rPr sz="1500" dirty="0" err="1"/>
              <a:t>W_curr</a:t>
            </a:r>
            <a:r>
              <a:rPr sz="1500" dirty="0"/>
              <a:t> + sentiment × impact/10 × 10%).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74519"/>
            <a:ext cx="2423160" cy="228600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60" y="1874519"/>
            <a:ext cx="50292" cy="2286000"/>
          </a:xfrm>
          <a:prstGeom prst="rect">
            <a:avLst/>
          </a:prstGeom>
          <a:solidFill>
            <a:srgbClr val="5BDC9D"/>
          </a:solidFill>
          <a:ln>
            <a:solidFill>
              <a:srgbClr val="5B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002536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4  NORMALIZE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86584"/>
            <a:ext cx="210312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Rescale all weights so total allocation equals 100%.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82880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PORTFOLIO OUTPUTS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92040"/>
            <a:ext cx="3337560" cy="96012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892040"/>
            <a:ext cx="50292" cy="96012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020055"/>
            <a:ext cx="3017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Allocation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12663"/>
            <a:ext cx="30175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Initial vs current weight • net 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892040"/>
            <a:ext cx="3337560" cy="96012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34840" y="4892040"/>
            <a:ext cx="50292" cy="9601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5020055"/>
            <a:ext cx="3017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Trajectory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312663"/>
            <a:ext cx="301752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Surging momentum • steady growth • selling pressure • severe fallout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892040"/>
            <a:ext cx="3337560" cy="96012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4892040"/>
            <a:ext cx="50292" cy="960120"/>
          </a:xfrm>
          <a:prstGeom prst="rect">
            <a:avLst/>
          </a:prstGeom>
          <a:solidFill>
            <a:srgbClr val="BB8FFF"/>
          </a:solidFill>
          <a:ln>
            <a:solidFill>
              <a:srgbClr val="BB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19" y="5020055"/>
            <a:ext cx="3017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Next-cycle forecast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5312664"/>
            <a:ext cx="301752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7CC"/>
                </a:solidFill>
                <a:latin typeface="Aptos"/>
              </a:defRPr>
            </a:pPr>
            <a:r>
              <a:rPr sz="1500" dirty="0"/>
              <a:t>Momentum-slope extrapolation for projected target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06 — DASHBOARD &amp;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Make the pipeline inspectable, not just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600" dirty="0" err="1"/>
              <a:t>Streamlit</a:t>
            </a:r>
            <a:r>
              <a:rPr sz="1600" dirty="0"/>
              <a:t> and </a:t>
            </a:r>
            <a:r>
              <a:rPr sz="1600" dirty="0" err="1"/>
              <a:t>Plotly</a:t>
            </a:r>
            <a:r>
              <a:rPr sz="1600" dirty="0"/>
              <a:t> surface the raw evidence, intermediate signals and downstream portfolio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74720" cy="233172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0292" cy="233172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31546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INGESTION +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4"/>
            <a:ext cx="3154679" cy="17620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RSS crawler and manual input controls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Tweet URL / status ID input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Historical batch loading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Timestamp, source, headline, ticker, sentiment and event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74720" cy="233172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50292" cy="233172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02536"/>
            <a:ext cx="31546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FACTOR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86584"/>
            <a:ext cx="3154679" cy="151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Event contribution distribution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Factor sentiment comparison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Company-wise growth / fallout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Asset-specific historical trajectory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474720" cy="233172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874519"/>
            <a:ext cx="50292" cy="2331720"/>
          </a:xfrm>
          <a:prstGeom prst="rect">
            <a:avLst/>
          </a:prstGeom>
          <a:solidFill>
            <a:srgbClr val="BB8FFF"/>
          </a:solidFill>
          <a:ln>
            <a:solidFill>
              <a:srgbClr val="BB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002536"/>
            <a:ext cx="31546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PORTFOLIO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86584"/>
            <a:ext cx="3154679" cy="126957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Initial vs current allocation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Current index composition donut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Three-way allocation shift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AI next-cycle 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2801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DDC"/>
                </a:solidFill>
                <a:latin typeface="Aptos"/>
              </a:defRPr>
            </a:pPr>
            <a:r>
              <a:rPr sz="1600" dirty="0"/>
              <a:t>DEMO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2F6FD"/>
                </a:solidFill>
                <a:latin typeface="Aptos"/>
              </a:defRPr>
            </a:pPr>
            <a:r>
              <a:t>Submit headline → inspect model signals → review ticker mapping → compare portfolio weights → explain the risk implication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DDC"/>
                </a:solidFill>
                <a:latin typeface="Aptos"/>
              </a:defRPr>
            </a:pPr>
            <a:r>
              <a:rPr sz="1200" dirty="0"/>
              <a:t>07 — DEPLOYMENT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2F6FD"/>
                </a:solidFill>
                <a:latin typeface="Aptos"/>
              </a:defRPr>
            </a:pPr>
            <a:r>
              <a:t>Reproducible setup, clear assumptions, honest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The deck distinguishes prototype design claims from metrics that still need empirical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72768"/>
            <a:ext cx="658368" cy="36576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A9B7CC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960" y="1887184"/>
            <a:ext cx="3520440" cy="242316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0292" cy="2423160"/>
          </a:xfrm>
          <a:prstGeom prst="rect">
            <a:avLst/>
          </a:prstGeom>
          <a:solidFill>
            <a:srgbClr val="34DDDC"/>
          </a:solidFill>
          <a:ln>
            <a:solidFill>
              <a:srgbClr val="34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55611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rPr dirty="0"/>
              <a:t>RUN THE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60317"/>
            <a:ext cx="3200400" cy="151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Prerequisites: Docker + Docker Compose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From repository root: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`docker compose up --build`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Open: `http://localhost:8501`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242316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50292" cy="2423160"/>
          </a:xfrm>
          <a:prstGeom prst="rect">
            <a:avLst/>
          </a:prstGeom>
          <a:solidFill>
            <a:srgbClr val="588FFF"/>
          </a:solidFill>
          <a:ln>
            <a:solidFill>
              <a:srgbClr val="58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5681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DATA + ASSUMPTIONS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40864"/>
            <a:ext cx="3200400" cy="151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English-first feeds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Public or synthetic data only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Macro events map to SPY proxy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New assets receive 2% baseline before normalization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520440" cy="2423160"/>
          </a:xfrm>
          <a:prstGeom prst="roundRect">
            <a:avLst/>
          </a:prstGeom>
          <a:solidFill>
            <a:srgbClr val="121D31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50292" cy="242316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56816"/>
            <a:ext cx="3200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LIMITATIONS +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40864"/>
            <a:ext cx="32004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Feeds may rate-limit or change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Model confidence ≠ financial certainty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Validate labels and impact scores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A9B7CC"/>
                </a:solidFill>
                <a:latin typeface="Aptos"/>
              </a:defRPr>
            </a:pPr>
            <a:r>
              <a:rPr sz="1600" dirty="0"/>
              <a:t>• Backtest with costs and risk constraints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744200" cy="822960"/>
          </a:xfrm>
          <a:prstGeom prst="roundRect">
            <a:avLst/>
          </a:prstGeom>
          <a:solidFill>
            <a:srgbClr val="182740"/>
          </a:solidFill>
          <a:ln>
            <a:solidFill>
              <a:srgbClr val="31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2F6FD"/>
                </a:solidFill>
                <a:latin typeface="Aptos"/>
              </a:defRPr>
            </a:pPr>
            <a:r>
              <a:t>Himanshu  |  NIT Kurukshetra     •     AI/NLP Risk Engine &amp; Tactical Index Rebalancer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806440"/>
            <a:ext cx="4023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34DDDC"/>
                </a:solidFill>
                <a:latin typeface="Aptos"/>
              </a:defRPr>
            </a:pPr>
            <a:r>
              <a:rPr dirty="0"/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1064</Words>
  <Application>Microsoft Office PowerPoint</Application>
  <PresentationFormat>Widescreen</PresentationFormat>
  <Paragraphs>177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Yadav</cp:lastModifiedBy>
  <cp:revision>4</cp:revision>
  <dcterms:created xsi:type="dcterms:W3CDTF">2013-01-27T09:14:16Z</dcterms:created>
  <dcterms:modified xsi:type="dcterms:W3CDTF">2026-10-11T12:50:35Z</dcterms:modified>
  <cp:category/>
</cp:coreProperties>
</file>